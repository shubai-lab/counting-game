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游戏策划需求 Skill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0040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3498DB"/>
                </a:solidFill>
              </a:defRPr>
            </a:pPr>
            <a:r>
              <a:t>从模糊想法到可交付 PRD + HTML 原型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疏白 · 游戏策划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4864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3498DB"/>
                </a:solidFill>
              </a:defRPr>
            </a:pPr>
            <a:r>
              <a:t>2026.05.13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</a:defRPr>
            </a:pPr>
            <a:r>
              <a:t>🤔 策划需求的困境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1920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/>
            </a:pPr>
            <a:r>
              <a:t>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需求不清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</a:defRPr>
            </a:pPr>
            <a:r>
              <a:t>想法模糊，无从下手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560320" y="1280160"/>
            <a:ext cx="1920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2560320" y="1371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/>
            </a:pPr>
            <a:r>
              <a:t>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56032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文档难写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</a:defRPr>
            </a:pPr>
            <a:r>
              <a:t>改了8遍还在返工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663440" y="1280160"/>
            <a:ext cx="1920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4663440" y="1371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/>
            </a:pPr>
            <a: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63440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反复改稿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63440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</a:defRPr>
            </a:pPr>
            <a:r>
              <a:t>方向不明，沟通成本高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766559" y="1280160"/>
            <a:ext cx="192024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6766559" y="13716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/>
            </a:pPr>
            <a:r>
              <a:t>⏰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766559" y="192024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时间紧迫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766559" y="2286000"/>
            <a:ext cx="19202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2C3E50"/>
                </a:solidFill>
              </a:defRPr>
            </a:pPr>
            <a:r>
              <a:t>deadline追着跑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57200" y="3657600"/>
            <a:ext cx="8229600" cy="2286000"/>
          </a:xfrm>
          <a:prstGeom prst="roundRect">
            <a:avLst/>
          </a:prstGeom>
          <a:solidFill>
            <a:srgbClr val="E8F4FC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"我想做一个公会系统，但不知道从哪开始"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457200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"写了三版需求文档，都被开发打回来重写"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14400" y="5212079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2C3E50"/>
                </a:solidFill>
              </a:defRPr>
            </a:pPr>
            <a:r>
              <a:t>"设计稿改了8次，还在纠结交互"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</a:defRPr>
            </a:pPr>
            <a:r>
              <a:t>💡 我们的方案：七步引导式产出</a:t>
            </a:r>
          </a:p>
        </p:txBody>
      </p:sp>
      <p:sp>
        <p:nvSpPr>
          <p:cNvPr id="4" name="Oval 3"/>
          <p:cNvSpPr/>
          <p:nvPr/>
        </p:nvSpPr>
        <p:spPr>
          <a:xfrm>
            <a:off x="777240" y="1371600"/>
            <a:ext cx="548640" cy="548640"/>
          </a:xfrm>
          <a:prstGeom prst="ellipse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011680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需求</a:t>
            </a:r>
            <a:br/>
            <a:r>
              <a:t>采集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417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498DB"/>
                </a:solidFill>
              </a:defRPr>
            </a:pPr>
            <a:r>
              <a:t>→</a:t>
            </a:r>
          </a:p>
        </p:txBody>
      </p:sp>
      <p:sp>
        <p:nvSpPr>
          <p:cNvPr id="7" name="Oval 6"/>
          <p:cNvSpPr/>
          <p:nvPr/>
        </p:nvSpPr>
        <p:spPr>
          <a:xfrm>
            <a:off x="2011680" y="1371600"/>
            <a:ext cx="548640" cy="548640"/>
          </a:xfrm>
          <a:prstGeom prst="ellipse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2011680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数据</a:t>
            </a:r>
            <a:br/>
            <a:r>
              <a:t>需求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697480" y="1417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498DB"/>
                </a:solidFill>
              </a:defRPr>
            </a:pPr>
            <a:r>
              <a:t>→</a:t>
            </a:r>
          </a:p>
        </p:txBody>
      </p:sp>
      <p:sp>
        <p:nvSpPr>
          <p:cNvPr id="10" name="Oval 9"/>
          <p:cNvSpPr/>
          <p:nvPr/>
        </p:nvSpPr>
        <p:spPr>
          <a:xfrm>
            <a:off x="3246120" y="1371600"/>
            <a:ext cx="548640" cy="548640"/>
          </a:xfrm>
          <a:prstGeom prst="ellipse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2011680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方案</a:t>
            </a:r>
            <a:br/>
            <a:r>
              <a:t>设计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931920" y="1417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498DB"/>
                </a:solidFill>
              </a:defRPr>
            </a:pPr>
            <a:r>
              <a:t>→</a:t>
            </a:r>
          </a:p>
        </p:txBody>
      </p:sp>
      <p:sp>
        <p:nvSpPr>
          <p:cNvPr id="13" name="Oval 12"/>
          <p:cNvSpPr/>
          <p:nvPr/>
        </p:nvSpPr>
        <p:spPr>
          <a:xfrm>
            <a:off x="4480560" y="1371600"/>
            <a:ext cx="548640" cy="548640"/>
          </a:xfrm>
          <a:prstGeom prst="ellipse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60520" y="2011680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产出</a:t>
            </a:r>
            <a:br/>
            <a:r>
              <a:t>对齐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166360" y="1417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498DB"/>
                </a:solidFill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5715000" y="1371600"/>
            <a:ext cx="548640" cy="548640"/>
          </a:xfrm>
          <a:prstGeom prst="ellipse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394960" y="2011680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输出</a:t>
            </a:r>
            <a:br/>
            <a:r>
              <a:t>产物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1417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498DB"/>
                </a:solidFill>
              </a:defRPr>
            </a:pPr>
            <a:r>
              <a:t>→</a:t>
            </a:r>
          </a:p>
        </p:txBody>
      </p:sp>
      <p:sp>
        <p:nvSpPr>
          <p:cNvPr id="19" name="Oval 18"/>
          <p:cNvSpPr/>
          <p:nvPr/>
        </p:nvSpPr>
        <p:spPr>
          <a:xfrm>
            <a:off x="6949440" y="1371600"/>
            <a:ext cx="548640" cy="548640"/>
          </a:xfrm>
          <a:prstGeom prst="ellipse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29400" y="2011680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设计</a:t>
            </a:r>
            <a:br/>
            <a:r>
              <a:t>集成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635240" y="1417320"/>
            <a:ext cx="365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3498DB"/>
                </a:solidFill>
              </a:defRPr>
            </a:pPr>
            <a:r>
              <a:t>→</a:t>
            </a:r>
          </a:p>
        </p:txBody>
      </p:sp>
      <p:sp>
        <p:nvSpPr>
          <p:cNvPr id="22" name="Oval 21"/>
          <p:cNvSpPr/>
          <p:nvPr/>
        </p:nvSpPr>
        <p:spPr>
          <a:xfrm>
            <a:off x="8183880" y="1371600"/>
            <a:ext cx="548640" cy="548640"/>
          </a:xfrm>
          <a:prstGeom prst="ellipse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863840" y="2011680"/>
            <a:ext cx="1188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2C3E50"/>
                </a:solidFill>
              </a:defRPr>
            </a:pPr>
            <a:r>
              <a:t>版本</a:t>
            </a:r>
            <a:br/>
            <a:r>
              <a:t>管理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57200" y="3474720"/>
            <a:ext cx="8229600" cy="1371600"/>
          </a:xfrm>
          <a:prstGeom prst="roundRect">
            <a:avLst/>
          </a:prstGeom>
          <a:solidFill>
            <a:srgbClr val="E8F4FC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731520" y="3657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</a:defRPr>
            </a:pPr>
            <a:r>
              <a:t>📦 产出物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114800"/>
            <a:ext cx="1828800" cy="4572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PRD 文档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0" y="4114800"/>
            <a:ext cx="1828800" cy="4572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HTML 原型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754880" y="4114800"/>
            <a:ext cx="1828800" cy="4572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Mermaid 流程图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766560" y="4114800"/>
            <a:ext cx="1828800" cy="4572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设计稿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</a:defRPr>
            </a:pPr>
            <a:r>
              <a:t>先问清 → 再查数据 → 数据够 → 再想方案 → 方案定 → 再输出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E3A5F"/>
                </a:solidFill>
              </a:defRPr>
            </a:pPr>
            <a:r>
              <a:t>⭐ 为什么用这套工作流？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25603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/>
            </a:pPr>
            <a:r>
              <a:t>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</a:defRPr>
            </a:pPr>
            <a:r>
              <a:t>精准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9260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</a:defRPr>
            </a:pPr>
            <a:r>
              <a:t>从需求到原型</a:t>
            </a:r>
            <a:br/>
            <a:r>
              <a:t>只需7步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371600"/>
            <a:ext cx="25603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20040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/>
            </a:pPr>
            <a:r>
              <a:t>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0040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</a:defRPr>
            </a:pPr>
            <a:r>
              <a:t>高效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9260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</a:defRPr>
            </a:pPr>
            <a:r>
              <a:t>减少沟通成本</a:t>
            </a:r>
            <a:br/>
            <a:r>
              <a:t>减少返工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943600" y="1371600"/>
            <a:ext cx="2560320" cy="274320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5943600" y="1554480"/>
            <a:ext cx="25603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0"/>
            </a:pPr>
            <a:r>
              <a:t>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0" y="228600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</a:defRPr>
            </a:pPr>
            <a:r>
              <a:t>迭代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926080"/>
            <a:ext cx="2560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C3E50"/>
                </a:solidFill>
              </a:defRPr>
            </a:pPr>
            <a:r>
              <a:t>快速验证想法</a:t>
            </a:r>
            <a:br/>
            <a:r>
              <a:t>边做边改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02920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E74C3C"/>
                </a:solidFill>
              </a:defRPr>
            </a:pPr>
            <a:r>
              <a:t>告别「想到哪写到哪」，实现「按步骤高效产出」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</a:defRPr>
            </a:pPr>
            <a:r>
              <a:t>📝 Step 1：需求采集 — 七维度评估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005840"/>
            <a:ext cx="457200" cy="457200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#1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005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用户与场景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280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谁用？什么情况？</a:t>
            </a:r>
          </a:p>
        </p:txBody>
      </p:sp>
      <p:sp>
        <p:nvSpPr>
          <p:cNvPr id="7" name="Oval 6"/>
          <p:cNvSpPr/>
          <p:nvPr/>
        </p:nvSpPr>
        <p:spPr>
          <a:xfrm>
            <a:off x="2560320" y="1005840"/>
            <a:ext cx="457200" cy="457200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#2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1005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核心目标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1280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解决什么问题？</a:t>
            </a:r>
          </a:p>
        </p:txBody>
      </p:sp>
      <p:sp>
        <p:nvSpPr>
          <p:cNvPr id="10" name="Oval 9"/>
          <p:cNvSpPr/>
          <p:nvPr/>
        </p:nvSpPr>
        <p:spPr>
          <a:xfrm>
            <a:off x="4663440" y="1005840"/>
            <a:ext cx="457200" cy="457200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#3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12079" y="1005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业务流程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12079" y="1280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主流程是什么？</a:t>
            </a:r>
          </a:p>
        </p:txBody>
      </p:sp>
      <p:sp>
        <p:nvSpPr>
          <p:cNvPr id="13" name="Oval 12"/>
          <p:cNvSpPr/>
          <p:nvPr/>
        </p:nvSpPr>
        <p:spPr>
          <a:xfrm>
            <a:off x="6766559" y="1005840"/>
            <a:ext cx="457200" cy="457200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#4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199" y="100584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边界条件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199" y="12801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异常情况有哪些？</a:t>
            </a:r>
          </a:p>
        </p:txBody>
      </p:sp>
      <p:sp>
        <p:nvSpPr>
          <p:cNvPr id="16" name="Oval 15"/>
          <p:cNvSpPr/>
          <p:nvPr/>
        </p:nvSpPr>
        <p:spPr>
          <a:xfrm>
            <a:off x="457200" y="2103120"/>
            <a:ext cx="457200" cy="457200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#5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05840" y="21031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数据依赖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05840" y="23774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需要哪些数据？</a:t>
            </a:r>
          </a:p>
        </p:txBody>
      </p:sp>
      <p:sp>
        <p:nvSpPr>
          <p:cNvPr id="19" name="Oval 18"/>
          <p:cNvSpPr/>
          <p:nvPr/>
        </p:nvSpPr>
        <p:spPr>
          <a:xfrm>
            <a:off x="2560320" y="2103120"/>
            <a:ext cx="457200" cy="457200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#6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108960" y="21031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系统影响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08960" y="23774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影响哪些模块？</a:t>
            </a:r>
          </a:p>
        </p:txBody>
      </p:sp>
      <p:sp>
        <p:nvSpPr>
          <p:cNvPr id="22" name="Oval 21"/>
          <p:cNvSpPr/>
          <p:nvPr/>
        </p:nvSpPr>
        <p:spPr>
          <a:xfrm>
            <a:off x="4663440" y="2103120"/>
            <a:ext cx="457200" cy="457200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#7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9" y="21031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优先级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212079" y="2377439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2C3E50"/>
                </a:solidFill>
              </a:defRPr>
            </a:pPr>
            <a:r>
              <a:t>MVP 范围是什么？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457200" y="3657600"/>
            <a:ext cx="8229600" cy="2560320"/>
          </a:xfrm>
          <a:prstGeom prst="roundRect">
            <a:avLst/>
          </a:prstGeom>
          <a:solidFill>
            <a:srgbClr val="E8F4FC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26" name="TextBox 25"/>
          <p:cNvSpPr txBox="1"/>
          <p:nvPr/>
        </p:nvSpPr>
        <p:spPr>
          <a:xfrm>
            <a:off x="731520" y="38404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</a:defRPr>
            </a:pPr>
            <a:r>
              <a:t>🔍 3轮追问原则</a:t>
            </a:r>
          </a:p>
        </p:txBody>
      </p:sp>
      <p:sp>
        <p:nvSpPr>
          <p:cNvPr id="27" name="Oval 26"/>
          <p:cNvSpPr/>
          <p:nvPr/>
        </p:nvSpPr>
        <p:spPr>
          <a:xfrm>
            <a:off x="731520" y="4389120"/>
            <a:ext cx="365760" cy="365760"/>
          </a:xfrm>
          <a:prstGeom prst="ellipse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3891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第1轮：澄清核心概念和业务目标</a:t>
            </a:r>
          </a:p>
        </p:txBody>
      </p:sp>
      <p:sp>
        <p:nvSpPr>
          <p:cNvPr id="29" name="Oval 28"/>
          <p:cNvSpPr/>
          <p:nvPr/>
        </p:nvSpPr>
        <p:spPr>
          <a:xfrm>
            <a:off x="731520" y="4846320"/>
            <a:ext cx="365760" cy="365760"/>
          </a:xfrm>
          <a:prstGeom prst="ellipse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48463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第2轮：追问边界条件和异常流</a:t>
            </a:r>
          </a:p>
        </p:txBody>
      </p:sp>
      <p:sp>
        <p:nvSpPr>
          <p:cNvPr id="31" name="Oval 30"/>
          <p:cNvSpPr/>
          <p:nvPr/>
        </p:nvSpPr>
        <p:spPr>
          <a:xfrm>
            <a:off x="731520" y="5303520"/>
            <a:ext cx="365760" cy="365760"/>
          </a:xfrm>
          <a:prstGeom prst="ellipse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3035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第3轮：确认优先级和依赖关系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56692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3498DB"/>
                </a:solidFill>
              </a:defRPr>
            </a:pPr>
            <a:r>
              <a:t>✓ 最后复述理解，等待确认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</a:defRPr>
            </a:pPr>
            <a:r>
              <a:t>📊 Step 2：数据需求 — 先问数据，再定方案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3657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数据需求评估四象限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57200" y="1097280"/>
            <a:ext cx="2560320" cy="164592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数据充足 ✓</a:t>
            </a:r>
            <a:br/>
            <a:br/>
            <a:r>
              <a:t>可推进方案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1097280"/>
            <a:ext cx="2560320" cy="1645920"/>
          </a:xfrm>
          <a:prstGeom prst="roundRect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数据不足+可获取</a:t>
            </a:r>
            <a:br/>
            <a:br/>
            <a:r>
              <a:t>先补数据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26080"/>
            <a:ext cx="2560320" cy="1645920"/>
          </a:xfrm>
          <a:prstGeom prst="roundRect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数据不足+不可获取</a:t>
            </a:r>
            <a:br/>
            <a:br/>
            <a:r>
              <a:t>方案搁置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2926080"/>
            <a:ext cx="2560320" cy="1645920"/>
          </a:xfrm>
          <a:prstGeom prst="roundRect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无法验证</a:t>
            </a:r>
            <a:br/>
            <a:br/>
            <a:r>
              <a:t>方案放弃 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0" y="914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📄 数据需求文档结构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371600"/>
            <a:ext cx="1645920" cy="41148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1. 方案所需数据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920240"/>
            <a:ext cx="1645920" cy="41148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2. 现有数据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0" y="2468880"/>
            <a:ext cx="1645920" cy="41148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3. 数据缺口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58000" y="1371600"/>
            <a:ext cx="1645920" cy="41148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4. 获取计划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858000" y="1920240"/>
            <a:ext cx="1645920" cy="41148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5. 结论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0" y="3200400"/>
            <a:ext cx="3657600" cy="1645920"/>
          </a:xfrm>
          <a:prstGeom prst="roundRect">
            <a:avLst/>
          </a:prstGeom>
          <a:solidFill>
            <a:srgbClr val="E8F4F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16" name="TextBox 15"/>
          <p:cNvSpPr txBox="1"/>
          <p:nvPr/>
        </p:nvSpPr>
        <p:spPr>
          <a:xfrm>
            <a:off x="5212080" y="338328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</a:defRPr>
            </a:pPr>
            <a:r>
              <a:t>⚠️ 核心原则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12080" y="3840480"/>
            <a:ext cx="3291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数据不充分</a:t>
            </a:r>
            <a:br/>
            <a:r>
              <a:t>不做方案</a:t>
            </a:r>
            <a:br/>
            <a:br/>
            <a:r>
              <a:t>方案不确定</a:t>
            </a:r>
            <a:br/>
            <a:r>
              <a:t>不写 PRD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</a:defRPr>
            </a:pPr>
            <a:r>
              <a:t>💡 Step 3：方案设计 — 方案不确定，不写 PRD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5603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40080" y="1280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1. 现状分析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• 瓶颈识别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• 机会点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0" y="1097280"/>
            <a:ext cx="25603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383280" y="1280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2. 方案清单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• 方案A/B/C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• 预期收益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38328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• 实施难度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83280" y="32004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• 依赖条件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943600" y="1097280"/>
            <a:ext cx="2560320" cy="320040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15" name="TextBox 14"/>
          <p:cNvSpPr txBox="1"/>
          <p:nvPr/>
        </p:nvSpPr>
        <p:spPr>
          <a:xfrm>
            <a:off x="6126480" y="1280160"/>
            <a:ext cx="21945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3. 用户决策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18288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• 采用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22860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• 不采纳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743200"/>
            <a:ext cx="21945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• 修改后采纳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7200" y="4572000"/>
            <a:ext cx="8229600" cy="1645920"/>
          </a:xfrm>
          <a:prstGeom prst="roundRect">
            <a:avLst/>
          </a:prstGeom>
          <a:solidFill>
            <a:srgbClr val="E8F4F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20" name="TextBox 19"/>
          <p:cNvSpPr txBox="1"/>
          <p:nvPr/>
        </p:nvSpPr>
        <p:spPr>
          <a:xfrm>
            <a:off x="73152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E74C3C"/>
                </a:solidFill>
              </a:defRPr>
            </a:pPr>
            <a:r>
              <a:t>⚠️ 核心原则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" y="5303520"/>
            <a:ext cx="73152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1E3A5F"/>
                </a:solidFill>
              </a:defRPr>
            </a:pPr>
            <a:r>
              <a:t>方案不清楚不往下走，数据不充分不做方案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</a:defRPr>
            </a:pPr>
            <a:r>
              <a:t>🛡️ Step 3.5：边界检验 — 30项场景兜底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651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548640" y="1188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资格边界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554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</a:defRPr>
            </a:pPr>
            <a:r>
              <a:t>5项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用户升级/转官阶等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97280"/>
            <a:ext cx="2651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383280" y="1188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时间边界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80" y="1554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</a:defRPr>
            </a:pPr>
            <a:r>
              <a:t>5项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83280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中断登录/周期边界等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097280"/>
            <a:ext cx="2651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217920" y="11887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道具边界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17920" y="15544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</a:defRPr>
            </a:pPr>
            <a:r>
              <a:t>5项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17920" y="1920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背包已满/叠加等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2468880"/>
            <a:ext cx="2651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548640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推送边界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</a:defRPr>
            </a:pPr>
            <a:r>
              <a:t>5项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3291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推送权限/token失效等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291840" y="2468880"/>
            <a:ext cx="2651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21" name="TextBox 20"/>
          <p:cNvSpPr txBox="1"/>
          <p:nvPr/>
        </p:nvSpPr>
        <p:spPr>
          <a:xfrm>
            <a:off x="3383280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技术边界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38328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</a:defRPr>
            </a:pPr>
            <a:r>
              <a:t>5项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83280" y="3291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接口超时/防重复等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2468880"/>
            <a:ext cx="2651760" cy="118872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25" name="TextBox 24"/>
          <p:cNvSpPr txBox="1"/>
          <p:nvPr/>
        </p:nvSpPr>
        <p:spPr>
          <a:xfrm>
            <a:off x="6217920" y="2560320"/>
            <a:ext cx="24688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E3A5F"/>
                </a:solidFill>
              </a:defRPr>
            </a:pPr>
            <a:r>
              <a:t>业务边界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17920" y="292608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1">
                <a:solidFill>
                  <a:srgbClr val="E74C3C"/>
                </a:solidFill>
              </a:defRPr>
            </a:pPr>
            <a:r>
              <a:t>5项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217920" y="32918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2C3E50"/>
                </a:solidFill>
              </a:defRPr>
            </a:pPr>
            <a:r>
              <a:t>付费升级/账号注销等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57200" y="4114800"/>
            <a:ext cx="8229600" cy="1371600"/>
          </a:xfrm>
          <a:prstGeom prst="roundRect">
            <a:avLst/>
          </a:prstGeom>
          <a:solidFill>
            <a:srgbClr val="E8F4FC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29" name="TextBox 28"/>
          <p:cNvSpPr txBox="1"/>
          <p:nvPr/>
        </p:nvSpPr>
        <p:spPr>
          <a:xfrm>
            <a:off x="731520" y="429768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优先级标注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</a:defRPr>
            </a:pPr>
            <a:r>
              <a:t>🔴 P0 必须处理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7472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</a:defRPr>
            </a:pPr>
            <a:r>
              <a:t>🟡 P1 建议处理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217920" y="48463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2C3E50"/>
                </a:solidFill>
              </a:defRPr>
            </a:pPr>
            <a:r>
              <a:t>⚪ P2 后期优化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</a:defRPr>
            </a:pPr>
            <a:r>
              <a:t>🎯 Step 4：产出对齐 — 先问再定，不做无用功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8229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/>
            </a:pPr>
            <a:r>
              <a:t>1️⃣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128016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</a:defRPr>
            </a:pPr>
            <a:r>
              <a:t>PRD 结构确认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173736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需要几个 Tab？每个 Tab 放什么内容？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743200"/>
            <a:ext cx="8229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731520" y="292608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/>
            </a:pPr>
            <a:r>
              <a:t>2️⃣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292608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</a:defRPr>
            </a:pPr>
            <a:r>
              <a:t>原型需求确认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38328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5轮追问确保原型方向正确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57200" y="4389120"/>
            <a:ext cx="8229600" cy="146304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731520" y="4572000"/>
            <a:ext cx="914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/>
            </a:pPr>
            <a:r>
              <a:t>3️⃣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4572000"/>
            <a:ext cx="6400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1E3A5F"/>
                </a:solidFill>
              </a:defRPr>
            </a:pPr>
            <a:r>
              <a:t>流程图需求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28800" y="5029200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2C3E50"/>
                </a:solidFill>
              </a:defRPr>
            </a:pPr>
            <a:r>
              <a:t>复杂分支逻辑才画，简单流程略过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530352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</a:defRPr>
            </a:pPr>
            <a:r>
              <a:t>🔍 原型需求5轮追问：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5669280"/>
            <a:ext cx="8229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2C3E50"/>
                </a:solidFill>
              </a:defRPr>
            </a:pPr>
            <a:r>
              <a:t>这个方案涉及几个界面？→ 每个界面的主要/次级内容？→ 用户的操作和状态变化？→ MVP范围？→ 同一内容需要几种布局？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</a:defRPr>
            </a:pPr>
            <a:r>
              <a:t>📦 Step 5：输出产物 — 标准化、可交付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2651760" cy="3200400"/>
          </a:xfrm>
          <a:prstGeom prst="roundRect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64008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PRD 文档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prd_vX.X.html (引用外部)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743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prd_vX.X_单文件版 (内联附件)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91840" y="1097280"/>
            <a:ext cx="2651760" cy="32004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9" name="TextBox 8"/>
          <p:cNvSpPr txBox="1"/>
          <p:nvPr/>
        </p:nvSpPr>
        <p:spPr>
          <a:xfrm>
            <a:off x="347472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HTML 原型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7472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prototype_vX.X.html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2743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可交互·可预览·可分享·可迭代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1097280"/>
            <a:ext cx="2651760" cy="3200400"/>
          </a:xfrm>
          <a:prstGeom prst="roundRect">
            <a:avLst/>
          </a:prstGeom>
          <a:solidFill>
            <a:srgbClr val="2C3E50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13" name="TextBox 12"/>
          <p:cNvSpPr txBox="1"/>
          <p:nvPr/>
        </p:nvSpPr>
        <p:spPr>
          <a:xfrm>
            <a:off x="6309360" y="1371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</a:defRPr>
            </a:pPr>
            <a:r>
              <a:t>Mermaid 流程图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201168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flowchart_vX.X.md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743200"/>
            <a:ext cx="2286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FFFFFF"/>
                </a:solidFill>
              </a:defRPr>
            </a:pPr>
            <a:r>
              <a:t>嵌入 PRD 文档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4572000"/>
            <a:ext cx="8229600" cy="1371600"/>
          </a:xfrm>
          <a:prstGeom prst="roundRect">
            <a:avLst/>
          </a:prstGeom>
          <a:solidFill>
            <a:srgbClr val="E8F4FC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⚡ 技术栈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14400" y="5303520"/>
            <a:ext cx="2011680" cy="4572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Tailwind CSS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200400" y="5303520"/>
            <a:ext cx="2011680" cy="4572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Mermaid.js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486400" y="5303520"/>
            <a:ext cx="2011680" cy="457200"/>
          </a:xfrm>
          <a:prstGeom prst="roundRect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Chart.js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</a:defRPr>
            </a:pPr>
            <a:r>
              <a:t>🎨 Step 6：Figma 设计稿集成 — 视觉落地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188720"/>
            <a:ext cx="6400800" cy="4114800"/>
          </a:xfrm>
          <a:prstGeom prst="roundRect">
            <a:avLst/>
          </a:prstGeom>
          <a:solidFill>
            <a:srgbClr val="FFFFFF"/>
          </a:solidFill>
          <a:ln>
            <a:solidFill>
              <a:srgbClr val="1E3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1645920" y="1371600"/>
            <a:ext cx="5852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1E3A5F"/>
                </a:solidFill>
              </a:defRPr>
            </a:pPr>
            <a:r>
              <a:t>PRD 文档主体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645920" y="2011680"/>
            <a:ext cx="2651760" cy="914400"/>
          </a:xfrm>
          <a:prstGeom prst="roundRect">
            <a:avLst/>
          </a:prstGeom>
          <a:solidFill>
            <a:srgbClr val="E8F4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2C3E50"/>
                </a:solidFill>
              </a:defRPr>
            </a:pPr>
            <a:r>
              <a:t>[设计稿截图 1-1]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480560" y="2011680"/>
            <a:ext cx="2651760" cy="914400"/>
          </a:xfrm>
          <a:prstGeom prst="roundRect">
            <a:avLst/>
          </a:prstGeom>
          <a:solidFill>
            <a:srgbClr val="E8F4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2C3E50"/>
                </a:solidFill>
              </a:defRPr>
            </a:pPr>
            <a:r>
              <a:t>[设计稿截图 1-2]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45920" y="3108960"/>
            <a:ext cx="2651760" cy="914400"/>
          </a:xfrm>
          <a:prstGeom prst="roundRect">
            <a:avLst/>
          </a:prstGeom>
          <a:solidFill>
            <a:srgbClr val="E8F4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2C3E50"/>
                </a:solidFill>
              </a:defRPr>
            </a:pPr>
            <a:r>
              <a:t>[设计稿截图 2-1]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108960"/>
            <a:ext cx="2651760" cy="914400"/>
          </a:xfrm>
          <a:prstGeom prst="roundRect">
            <a:avLst/>
          </a:prstGeom>
          <a:solidFill>
            <a:srgbClr val="E8F4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2C3E50"/>
                </a:solidFill>
              </a:defRPr>
            </a:pPr>
            <a:r>
              <a:t>[设计稿截图 2-2]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645920" y="4206240"/>
            <a:ext cx="2651760" cy="914400"/>
          </a:xfrm>
          <a:prstGeom prst="roundRect">
            <a:avLst/>
          </a:prstGeom>
          <a:solidFill>
            <a:srgbClr val="E8F4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2C3E50"/>
                </a:solidFill>
              </a:defRPr>
            </a:pPr>
            <a:r>
              <a:t>[设计稿截图 3-1]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4206240"/>
            <a:ext cx="2651760" cy="914400"/>
          </a:xfrm>
          <a:prstGeom prst="roundRect">
            <a:avLst/>
          </a:prstGeom>
          <a:solidFill>
            <a:srgbClr val="E8F4F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0">
                <a:solidFill>
                  <a:srgbClr val="2C3E50"/>
                </a:solidFill>
              </a:defRPr>
            </a:pPr>
            <a:r>
              <a:t>[设计稿截图 3-2]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0" y="4846320"/>
            <a:ext cx="1645920" cy="365760"/>
          </a:xfrm>
          <a:prstGeom prst="roundRect">
            <a:avLst/>
          </a:prstGeom>
          <a:solidFill>
            <a:srgbClr val="E74C3C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FFFF"/>
                </a:solidFill>
              </a:defRPr>
            </a:pPr>
            <a:r>
              <a:t>↑ AI 自动截图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566928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3498DB"/>
                </a:solidFill>
              </a:defRPr>
            </a:pPr>
            <a:r>
              <a:t>📐 设计规范：十周年画布尺寸 · 安全边距 · 弹窗按钮动效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F5F7FA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1E3A5F"/>
                </a:solidFill>
              </a:defRPr>
            </a:pPr>
            <a:r>
              <a:t>📋 Step 7：版本管理 — 变更可追溯，版本不丢失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097280"/>
            <a:ext cx="5029200" cy="3657600"/>
          </a:xfrm>
          <a:prstGeom prst="roundRect">
            <a:avLst/>
          </a:prstGeom>
          <a:solidFill>
            <a:srgbClr val="FFFFFF"/>
          </a:solidFill>
          <a:ln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5" name="TextBox 4"/>
          <p:cNvSpPr txBox="1"/>
          <p:nvPr/>
        </p:nvSpPr>
        <p:spPr>
          <a:xfrm>
            <a:off x="731520" y="12801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1E3A5F"/>
                </a:solidFill>
              </a:defRPr>
            </a:pPr>
            <a:r>
              <a:t>CHANGELOG.md 结构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82880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v1.0 (2026-05-13)</a:t>
            </a:r>
            <a:br/>
            <a:r>
              <a:t>├─ 新增：初始版本</a:t>
            </a:r>
            <a:br/>
            <a:r>
              <a:t>├─ 修改：奖励数值调整</a:t>
            </a:r>
            <a:br/>
            <a:r>
              <a:t>└─ 修复：边界条件补充</a:t>
            </a:r>
            <a:br/>
            <a:br/>
            <a:r>
              <a:t>v1.1 (2026-05-15)</a:t>
            </a:r>
            <a:br/>
            <a:r>
              <a:t>├─ 新增：预流失标签体系</a:t>
            </a:r>
            <a:br/>
            <a:r>
              <a:t>└─ 修改：召回链路流程优化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69280" y="1097280"/>
            <a:ext cx="3017520" cy="3657600"/>
          </a:xfrm>
          <a:prstGeom prst="roundRect">
            <a:avLst/>
          </a:prstGeom>
          <a:solidFill>
            <a:srgbClr val="E8F4FC"/>
          </a:solidFill>
          <a:ln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 b="1">
                <a:solidFill>
                  <a:srgbClr val="FFFFFF"/>
                </a:solidFill>
              </a:defRPr>
            </a:pPr>
          </a:p>
        </p:txBody>
      </p:sp>
      <p:sp>
        <p:nvSpPr>
          <p:cNvPr id="8" name="TextBox 7"/>
          <p:cNvSpPr txBox="1"/>
          <p:nvPr/>
        </p:nvSpPr>
        <p:spPr>
          <a:xfrm>
            <a:off x="5852160" y="12801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E74C3C"/>
                </a:solidFill>
              </a:defRPr>
            </a:pPr>
            <a:r>
              <a:t>⚠️ 版本隔离原则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85216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• 每个版本物理隔离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852160" y="237744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• 不覆盖历史版本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52160" y="29260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• 原型每改一处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852160" y="3474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2C3E50"/>
                </a:solidFill>
              </a:defRPr>
            </a:pPr>
            <a:r>
              <a:t>• PRD 同步更新一处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E3A5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73152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🚀 开始你的第一个需求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3498DB"/>
                </a:solidFill>
              </a:defRPr>
            </a:pPr>
            <a:r>
              <a:t>🎯 七步口诀</a:t>
            </a:r>
          </a:p>
        </p:txBody>
      </p:sp>
      <p:sp>
        <p:nvSpPr>
          <p:cNvPr id="5" name="Oval 4"/>
          <p:cNvSpPr/>
          <p:nvPr/>
        </p:nvSpPr>
        <p:spPr>
          <a:xfrm>
            <a:off x="914400" y="2286000"/>
            <a:ext cx="320040" cy="320040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先问清，再查数据</a:t>
            </a:r>
          </a:p>
        </p:txBody>
      </p:sp>
      <p:sp>
        <p:nvSpPr>
          <p:cNvPr id="7" name="Oval 6"/>
          <p:cNvSpPr/>
          <p:nvPr/>
        </p:nvSpPr>
        <p:spPr>
          <a:xfrm>
            <a:off x="914400" y="2697480"/>
            <a:ext cx="320040" cy="320040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25880" y="2697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数据不够，先补缺口</a:t>
            </a:r>
          </a:p>
        </p:txBody>
      </p:sp>
      <p:sp>
        <p:nvSpPr>
          <p:cNvPr id="9" name="Oval 8"/>
          <p:cNvSpPr/>
          <p:nvPr/>
        </p:nvSpPr>
        <p:spPr>
          <a:xfrm>
            <a:off x="914400" y="3108960"/>
            <a:ext cx="320040" cy="320040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2588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数据够了，再想方案</a:t>
            </a:r>
          </a:p>
        </p:txBody>
      </p:sp>
      <p:sp>
        <p:nvSpPr>
          <p:cNvPr id="11" name="Oval 10"/>
          <p:cNvSpPr/>
          <p:nvPr/>
        </p:nvSpPr>
        <p:spPr>
          <a:xfrm>
            <a:off x="914400" y="3520440"/>
            <a:ext cx="320040" cy="320040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3520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方案不确定，不写 PRD</a:t>
            </a:r>
          </a:p>
        </p:txBody>
      </p:sp>
      <p:sp>
        <p:nvSpPr>
          <p:cNvPr id="13" name="Oval 12"/>
          <p:cNvSpPr/>
          <p:nvPr/>
        </p:nvSpPr>
        <p:spPr>
          <a:xfrm>
            <a:off x="914400" y="3931920"/>
            <a:ext cx="320040" cy="320040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25880" y="393192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产出方向，先问再定</a:t>
            </a:r>
          </a:p>
        </p:txBody>
      </p:sp>
      <p:sp>
        <p:nvSpPr>
          <p:cNvPr id="15" name="Oval 14"/>
          <p:cNvSpPr/>
          <p:nvPr/>
        </p:nvSpPr>
        <p:spPr>
          <a:xfrm>
            <a:off x="5029200" y="2286000"/>
            <a:ext cx="320040" cy="320040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40680" y="228600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边界检验，漏洞补掉</a:t>
            </a:r>
          </a:p>
        </p:txBody>
      </p:sp>
      <p:sp>
        <p:nvSpPr>
          <p:cNvPr id="17" name="Oval 16"/>
          <p:cNvSpPr/>
          <p:nvPr/>
        </p:nvSpPr>
        <p:spPr>
          <a:xfrm>
            <a:off x="5029200" y="2697480"/>
            <a:ext cx="320040" cy="320040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40680" y="269748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原型输出，多种布局</a:t>
            </a:r>
          </a:p>
        </p:txBody>
      </p:sp>
      <p:sp>
        <p:nvSpPr>
          <p:cNvPr id="19" name="Oval 18"/>
          <p:cNvSpPr/>
          <p:nvPr/>
        </p:nvSpPr>
        <p:spPr>
          <a:xfrm>
            <a:off x="5029200" y="3108960"/>
            <a:ext cx="320040" cy="320040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40680" y="310896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设计稿放，集成 PRD</a:t>
            </a:r>
          </a:p>
        </p:txBody>
      </p:sp>
      <p:sp>
        <p:nvSpPr>
          <p:cNvPr id="21" name="Oval 20"/>
          <p:cNvSpPr/>
          <p:nvPr/>
        </p:nvSpPr>
        <p:spPr>
          <a:xfrm>
            <a:off x="5029200" y="3520440"/>
            <a:ext cx="320040" cy="320040"/>
          </a:xfrm>
          <a:prstGeom prst="ellipse">
            <a:avLst/>
          </a:prstGeom>
          <a:solidFill>
            <a:srgbClr val="3498DB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100" b="1">
                <a:solidFill>
                  <a:srgbClr val="FFFFFF"/>
                </a:solidFill>
              </a:defRPr>
            </a:pPr>
            <a:r>
              <a:t>9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440680" y="3520440"/>
            <a:ext cx="3474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版本管理，及时记录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530352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3498DB"/>
                </a:solidFill>
              </a:defRPr>
            </a:pPr>
            <a:r>
              <a:t>"只需要描述你的想法，剩余交给我们"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" y="5943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FFFFFF"/>
                </a:solidFill>
              </a:defRPr>
            </a:pPr>
            <a:r>
              <a:t>疏白 · 游戏策划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